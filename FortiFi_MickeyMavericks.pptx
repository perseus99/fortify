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6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35" autoAdjust="0"/>
  </p:normalViewPr>
  <p:slideViewPr>
    <p:cSldViewPr snapToGrid="0" snapToObjects="1">
      <p:cViewPr varScale="1">
        <p:scale>
          <a:sx n="104" d="100"/>
          <a:sy n="104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Enemies</c:v>
                </c:pt>
              </c:strCache>
            </c:strRef>
          </c:tx>
          <c:spPr>
            <a:solidFill>
              <a:srgbClr val="00BFA5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FC5-4CE3-B960-CBB4F4606015}"/>
              </c:ext>
            </c:extLst>
          </c:dPt>
          <c:dPt>
            <c:idx val="1"/>
            <c:invertIfNegative val="0"/>
            <c:bubble3D val="0"/>
            <c:spPr>
              <a:solidFill>
                <a:srgbClr val="C9A8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FC5-4CE3-B960-CBB4F4606015}"/>
              </c:ext>
            </c:extLst>
          </c:dPt>
          <c:dPt>
            <c:idx val="2"/>
            <c:invertIfNegative val="0"/>
            <c:bubble3D val="0"/>
            <c:spPr>
              <a:solidFill>
                <a:srgbClr val="E8485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FC5-4CE3-B960-CBB4F460601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Score 80-100
(Saved Well)</c:v>
                </c:pt>
                <c:pt idx="1">
                  <c:v>Score 50-79
(Average)</c:v>
                </c:pt>
                <c:pt idx="2">
                  <c:v>Score 0-49
(Overspent)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</c:v>
                </c:pt>
                <c:pt idx="1">
                  <c:v>14</c:v>
                </c:pt>
                <c:pt idx="2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FC5-4CE3-B960-CBB4F460601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8C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B335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8C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1224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49830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me start with something relatable.</a:t>
            </a:r>
          </a:p>
          <a:p>
            <a:r>
              <a:rPr lang="en-US" dirty="0"/>
              <a:t>Most people don’t feel like they’re bad with money… but at the end of the month, they still wonder—</a:t>
            </a:r>
            <a:r>
              <a:rPr lang="en-US" i="1" dirty="0"/>
              <a:t>where did it all go?</a:t>
            </a:r>
            <a:endParaRPr lang="en-US" dirty="0"/>
          </a:p>
          <a:p>
            <a:r>
              <a:rPr lang="en-US" dirty="0"/>
              <a:t>And the data backs this up.</a:t>
            </a:r>
          </a:p>
          <a:p>
            <a:r>
              <a:rPr lang="en-US" dirty="0"/>
              <a:t>About </a:t>
            </a:r>
            <a:r>
              <a:rPr lang="en-US" b="1" dirty="0"/>
              <a:t>77% of Americans are living paycheck to paycheck</a:t>
            </a:r>
            <a:r>
              <a:rPr lang="en-US" dirty="0"/>
              <a:t>, which means even small unexpected expenses can become stressful.</a:t>
            </a:r>
          </a:p>
          <a:p>
            <a:r>
              <a:rPr lang="en-US" dirty="0"/>
              <a:t>At the same time, credit card debt has crossed </a:t>
            </a:r>
            <a:r>
              <a:rPr lang="en-US" b="1" dirty="0"/>
              <a:t>$1.3 trillion</a:t>
            </a:r>
            <a:r>
              <a:rPr lang="en-US" dirty="0"/>
              <a:t>, showing how easily spending can spiral without people even realizing it.</a:t>
            </a:r>
          </a:p>
          <a:p>
            <a:r>
              <a:rPr lang="en-US" dirty="0"/>
              <a:t>But here’s the most interesting part—only </a:t>
            </a:r>
            <a:r>
              <a:rPr lang="en-US" b="1" dirty="0"/>
              <a:t>2% of Gen Z actually use budgeting apps consistently</a:t>
            </a:r>
            <a:r>
              <a:rPr lang="en-US" dirty="0"/>
              <a:t>.</a:t>
            </a:r>
          </a:p>
          <a:p>
            <a:r>
              <a:rPr lang="en-US" dirty="0"/>
              <a:t>So the problem isn’t that tools don’t exist. It’s that people don’t stick with them.</a:t>
            </a:r>
          </a:p>
          <a:p>
            <a:r>
              <a:rPr lang="en-US" dirty="0"/>
              <a:t>And that tells us something important—this isn’t just a financial problem… it’s a behavior problem.</a:t>
            </a:r>
          </a:p>
          <a:p>
            <a:endParaRPr lang="en-US" dirty="0"/>
          </a:p>
          <a:p>
            <a:r>
              <a:rPr lang="en-US" dirty="0"/>
              <a:t>“So if the problem is behavior… why aren’t current solutions fixing it?</a:t>
            </a:r>
          </a:p>
          <a:p>
            <a:r>
              <a:rPr lang="en-US" dirty="0"/>
              <a:t>Think about the last time you opened a budgeting app.</a:t>
            </a:r>
            <a:br>
              <a:rPr lang="en-US" dirty="0"/>
            </a:br>
            <a:r>
              <a:rPr lang="en-US" dirty="0"/>
              <a:t>It probably felt more like doing homework than something you </a:t>
            </a:r>
            <a:r>
              <a:rPr lang="en-US" i="1" dirty="0"/>
              <a:t>wanted</a:t>
            </a:r>
            <a:r>
              <a:rPr lang="en-US" dirty="0"/>
              <a:t> to do.</a:t>
            </a:r>
          </a:p>
          <a:p>
            <a:r>
              <a:rPr lang="en-US" dirty="0"/>
              <a:t>Most of these apps are very transactional—they show numbers, charts, maybe send a notification… but that’s it.</a:t>
            </a:r>
          </a:p>
          <a:p>
            <a:r>
              <a:rPr lang="en-US" dirty="0"/>
              <a:t>And over time, those notifications just become noise. We ignore them.</a:t>
            </a:r>
          </a:p>
          <a:p>
            <a:r>
              <a:rPr lang="en-US" dirty="0"/>
              <a:t>On top of that, financial education today is mostly passive.</a:t>
            </a:r>
            <a:br>
              <a:rPr lang="en-US" dirty="0"/>
            </a:br>
            <a:r>
              <a:rPr lang="en-US" dirty="0"/>
              <a:t>You might </a:t>
            </a:r>
            <a:r>
              <a:rPr lang="en-US" i="1" dirty="0"/>
              <a:t>learn</a:t>
            </a:r>
            <a:r>
              <a:rPr lang="en-US" dirty="0"/>
              <a:t> what you should do… but there’s nothing pushing you to actually follow through.</a:t>
            </a:r>
          </a:p>
          <a:p>
            <a:r>
              <a:rPr lang="en-US" dirty="0"/>
              <a:t>So the core issue is this—there’s no engagement, no emotional connection, and no real consequence.</a:t>
            </a:r>
          </a:p>
          <a:p>
            <a:r>
              <a:rPr lang="en-US" dirty="0"/>
              <a:t>And without those, behavior simply doesn’t change.”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“So instead of trying to fix budgeting… we reimagined it completely.</a:t>
            </a:r>
          </a:p>
          <a:p>
            <a:r>
              <a:rPr lang="en-US" dirty="0"/>
              <a:t>What if managing your money didn’t feel like a chore—but felt like a game?</a:t>
            </a:r>
          </a:p>
          <a:p>
            <a:r>
              <a:rPr lang="en-US" dirty="0"/>
              <a:t>That’s </a:t>
            </a:r>
            <a:r>
              <a:rPr lang="en-US"/>
              <a:t>where Forti-Fi </a:t>
            </a:r>
            <a:r>
              <a:rPr lang="en-US" dirty="0"/>
              <a:t>comes in.</a:t>
            </a:r>
          </a:p>
          <a:p>
            <a:r>
              <a:rPr lang="en-US" dirty="0"/>
              <a:t>We take your real financial behavior and turn it into a </a:t>
            </a:r>
            <a:r>
              <a:rPr lang="en-US" b="1" dirty="0"/>
              <a:t>tower defense game</a:t>
            </a:r>
            <a:r>
              <a:rPr lang="en-US" dirty="0"/>
              <a:t>.</a:t>
            </a:r>
          </a:p>
          <a:p>
            <a:r>
              <a:rPr lang="en-US" dirty="0"/>
              <a:t>If you overspend, your enemies get stronger.</a:t>
            </a:r>
            <a:br>
              <a:rPr lang="en-US" dirty="0"/>
            </a:br>
            <a:r>
              <a:rPr lang="en-US" dirty="0"/>
              <a:t>If you save well, the game becomes easier.</a:t>
            </a:r>
          </a:p>
          <a:p>
            <a:r>
              <a:rPr lang="en-US" dirty="0"/>
              <a:t>So your actions have </a:t>
            </a:r>
            <a:r>
              <a:rPr lang="en-US" i="1" dirty="0"/>
              <a:t>immediate, visible consequences</a:t>
            </a:r>
            <a:r>
              <a:rPr lang="en-US" dirty="0"/>
              <a:t>.</a:t>
            </a:r>
          </a:p>
          <a:p>
            <a:r>
              <a:rPr lang="en-US" dirty="0"/>
              <a:t>And behind the scenes, we use agentic AI—multiple intelligent agents that analyze your spending, set personalized goals, and guide you through decisions.</a:t>
            </a:r>
          </a:p>
          <a:p>
            <a:r>
              <a:rPr lang="en-US" dirty="0"/>
              <a:t>What this creates is a feedback loop where good financial habits are instantly rewarding… and bad habits actually feel costly.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me walk you through how a user actually interacts </a:t>
            </a:r>
            <a:r>
              <a:rPr lang="en-US"/>
              <a:t>with Forti-Fi—</a:t>
            </a:r>
            <a:r>
              <a:rPr lang="en-US" dirty="0"/>
              <a:t>this is the core gameplay loop.</a:t>
            </a:r>
          </a:p>
          <a:p>
            <a:r>
              <a:rPr lang="en-US" dirty="0"/>
              <a:t>It starts with something very simple: the user uploads their bank statement—either a PDF or a text file.</a:t>
            </a:r>
          </a:p>
          <a:p>
            <a:r>
              <a:rPr lang="en-US" dirty="0"/>
              <a:t>From there, our AI steps in and analyzes the transactions. It categorizes spending and calculates a financial score from 0 to 100, giving a clear snapshot of how well the user managed their money that week.</a:t>
            </a:r>
          </a:p>
          <a:p>
            <a:r>
              <a:rPr lang="en-US" dirty="0"/>
              <a:t>Next, we move from insight to action.</a:t>
            </a:r>
            <a:br>
              <a:rPr lang="en-US" dirty="0"/>
            </a:br>
            <a:r>
              <a:rPr lang="en-US" dirty="0"/>
              <a:t>The Goal Agent identifies the user’s riskiest spending category—like food or subscriptions—and sets a realistic target, usually something like reducing that category by 25%.</a:t>
            </a:r>
          </a:p>
          <a:p>
            <a:r>
              <a:rPr lang="en-US" dirty="0"/>
              <a:t>Now comes the fun part—the game.</a:t>
            </a:r>
          </a:p>
          <a:p>
            <a:r>
              <a:rPr lang="en-US" dirty="0"/>
              <a:t>The user enters a tower defense game where their financial score directly determines the difficulty.</a:t>
            </a:r>
            <a:br>
              <a:rPr lang="en-US" dirty="0"/>
            </a:br>
            <a:r>
              <a:rPr lang="en-US" dirty="0"/>
              <a:t>If they managed their money well, the game is easier. If not, they face tougher enemies.</a:t>
            </a:r>
          </a:p>
          <a:p>
            <a:r>
              <a:rPr lang="en-US" dirty="0"/>
              <a:t>So their real-world behavior directly impacts their in-game performance.</a:t>
            </a:r>
          </a:p>
          <a:p>
            <a:r>
              <a:rPr lang="en-US" dirty="0"/>
              <a:t>Finally, after the game, users receive personalized feedback from AI advisor characters.</a:t>
            </a:r>
            <a:br>
              <a:rPr lang="en-US" dirty="0"/>
            </a:br>
            <a:r>
              <a:rPr lang="en-US" dirty="0"/>
              <a:t>These NPCs don’t just give generic advice—they reference past behavior and provide insights the user can actually act on.</a:t>
            </a:r>
          </a:p>
          <a:p>
            <a:r>
              <a:rPr lang="en-US" dirty="0"/>
              <a:t>So overall, this loop creates a cycle:</a:t>
            </a:r>
            <a:br>
              <a:rPr lang="en-US" dirty="0"/>
            </a:br>
            <a:r>
              <a:rPr lang="en-US" b="1" dirty="0"/>
              <a:t>spending → analysis → goal → gameplay → feedback → improvement.</a:t>
            </a:r>
            <a:endParaRPr lang="en-US" dirty="0"/>
          </a:p>
          <a:p>
            <a:r>
              <a:rPr lang="en-US" dirty="0"/>
              <a:t>And that’s what turns financial habits into something engaging and continuously improving.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1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017520" y="0"/>
            <a:ext cx="7315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640080"/>
            <a:ext cx="2011680" cy="2011680"/>
          </a:xfrm>
          <a:prstGeom prst="ellipse">
            <a:avLst/>
          </a:prstGeom>
          <a:solidFill>
            <a:srgbClr val="1B3358"/>
          </a:solidFill>
          <a:ln w="381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960120"/>
            <a:ext cx="1371600" cy="1371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" y="283464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600" dirty="0">
                <a:solidFill>
                  <a:srgbClr val="C9A84C"/>
                </a:solidFill>
              </a:rPr>
              <a:t>MICKEY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37160" y="320040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C9A84C"/>
                </a:solidFill>
              </a:rPr>
              <a:t>MAVERICKS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383280" y="77724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200" b="1" kern="0" spc="800" dirty="0">
                <a:solidFill>
                  <a:srgbClr val="C9A84C"/>
                </a:solidFill>
              </a:rPr>
              <a:t>Forti-Fi</a:t>
            </a:r>
            <a:endParaRPr lang="en-US" sz="7200" dirty="0"/>
          </a:p>
        </p:txBody>
      </p:sp>
      <p:sp>
        <p:nvSpPr>
          <p:cNvPr id="10" name="Text 7"/>
          <p:cNvSpPr/>
          <p:nvPr/>
        </p:nvSpPr>
        <p:spPr>
          <a:xfrm>
            <a:off x="7360920" y="777240"/>
            <a:ext cx="1371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7200" dirty="0"/>
          </a:p>
        </p:txBody>
      </p:sp>
      <p:sp>
        <p:nvSpPr>
          <p:cNvPr id="11" name="Text 8"/>
          <p:cNvSpPr/>
          <p:nvPr/>
        </p:nvSpPr>
        <p:spPr>
          <a:xfrm>
            <a:off x="3383280" y="182880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E8EEF7"/>
                </a:solidFill>
              </a:rPr>
              <a:t>Your Spending Habits Are the Boss Level.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3383280" y="2468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FA8C8"/>
                </a:solidFill>
              </a:rPr>
              <a:t>An Agentic AI-Powered Financial Tower Defense Game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3383280" y="3063240"/>
            <a:ext cx="5303520" cy="36576"/>
          </a:xfrm>
          <a:prstGeom prst="rect">
            <a:avLst/>
          </a:prstGeom>
          <a:solidFill>
            <a:srgbClr val="1B3358"/>
          </a:solidFill>
          <a:ln w="12700">
            <a:solidFill>
              <a:srgbClr val="1B33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383280" y="3200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FA8C8"/>
                </a:solidFill>
              </a:rPr>
              <a:t>Neehar Phatak | Saniya Gupte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rgbClr val="E848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500" dirty="0"/>
              <a:t>THE PROBLEM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651760" cy="2286000"/>
          </a:xfrm>
          <a:prstGeom prst="rect">
            <a:avLst/>
          </a:prstGeom>
          <a:solidFill>
            <a:srgbClr val="112240"/>
          </a:solidFill>
          <a:ln w="2540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C9A84C"/>
                </a:solidFill>
              </a:rPr>
              <a:t>77%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274320" y="182880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8EEF7"/>
                </a:solidFill>
              </a:rPr>
              <a:t>of Americans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E8EEF7"/>
                </a:solidFill>
              </a:rPr>
              <a:t>live paycheck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E8EEF7"/>
                </a:solidFill>
              </a:rPr>
              <a:t>to paycheck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0" y="822960"/>
            <a:ext cx="2651760" cy="2286000"/>
          </a:xfrm>
          <a:prstGeom prst="rect">
            <a:avLst/>
          </a:prstGeom>
          <a:solidFill>
            <a:srgbClr val="112240"/>
          </a:solidFill>
          <a:ln w="2540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0" y="96012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C9A84C"/>
                </a:solidFill>
              </a:rPr>
              <a:t>$1.3T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3200400" y="182880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8EEF7"/>
                </a:solidFill>
              </a:rPr>
              <a:t>in US credit card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E8EEF7"/>
                </a:solidFill>
              </a:rPr>
              <a:t>debt — an all-time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E8EEF7"/>
                </a:solidFill>
              </a:rPr>
              <a:t>high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822960"/>
            <a:ext cx="2651760" cy="2286000"/>
          </a:xfrm>
          <a:prstGeom prst="rect">
            <a:avLst/>
          </a:prstGeom>
          <a:solidFill>
            <a:srgbClr val="112240"/>
          </a:solidFill>
          <a:ln w="2540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126480" y="96012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C9A84C"/>
                </a:solidFill>
              </a:rPr>
              <a:t>2%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6126480" y="182880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8EEF7"/>
                </a:solidFill>
              </a:rPr>
              <a:t>of Gen Z track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E8EEF7"/>
                </a:solidFill>
              </a:rPr>
              <a:t>spending with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E8EEF7"/>
                </a:solidFill>
              </a:rPr>
              <a:t>any budget app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32918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84C"/>
                </a:solidFill>
              </a:rPr>
              <a:t>WHY EXISTING SOLUTIONS FAIL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3611880"/>
            <a:ext cx="2651760" cy="1188720"/>
          </a:xfrm>
          <a:prstGeom prst="rect">
            <a:avLst/>
          </a:prstGeom>
          <a:solidFill>
            <a:srgbClr val="112240"/>
          </a:solidFill>
          <a:ln w="12700">
            <a:solidFill>
              <a:srgbClr val="1B33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703320"/>
            <a:ext cx="411480" cy="41148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68680" y="3657600"/>
            <a:ext cx="1965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7"/>
                </a:solidFill>
              </a:rPr>
              <a:t>Budgeting apps are cold, clinical &amp; boring — nobody opens them twice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200400" y="3611880"/>
            <a:ext cx="2651760" cy="1188720"/>
          </a:xfrm>
          <a:prstGeom prst="rect">
            <a:avLst/>
          </a:prstGeom>
          <a:solidFill>
            <a:srgbClr val="112240"/>
          </a:solidFill>
          <a:ln w="12700">
            <a:solidFill>
              <a:srgbClr val="1B33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3703320"/>
            <a:ext cx="411480" cy="4114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794760" y="3657600"/>
            <a:ext cx="1965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7"/>
                </a:solidFill>
              </a:rPr>
              <a:t>Notifications &amp; alerts are ignored — no emotional consequence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126480" y="3611880"/>
            <a:ext cx="2651760" cy="1188720"/>
          </a:xfrm>
          <a:prstGeom prst="rect">
            <a:avLst/>
          </a:prstGeom>
          <a:solidFill>
            <a:srgbClr val="112240"/>
          </a:solidFill>
          <a:ln w="12700">
            <a:solidFill>
              <a:srgbClr val="1B33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3703320"/>
            <a:ext cx="411480" cy="4114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720840" y="3657600"/>
            <a:ext cx="1965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7"/>
                </a:solidFill>
              </a:rPr>
              <a:t>Financial literacy content is passive — knowledge ≠ behavior change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rgbClr val="00BFA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kern="0" spc="500" dirty="0"/>
              <a:t>THE SOLUTION</a:t>
            </a:r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i="1" dirty="0">
                <a:solidFill>
                  <a:srgbClr val="F0D080"/>
                </a:solidFill>
              </a:rPr>
              <a:t>We turned your bank statement into a boss fight.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508760"/>
            <a:ext cx="4160520" cy="1508760"/>
          </a:xfrm>
          <a:prstGeom prst="rect">
            <a:avLst/>
          </a:prstGeom>
          <a:solidFill>
            <a:srgbClr val="112240"/>
          </a:solidFill>
          <a:ln w="2540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6459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7552" y="1618488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D080"/>
                </a:solidFill>
              </a:rPr>
              <a:t>Gamification that Actually Works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38912" y="2075688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7"/>
                </a:solidFill>
              </a:rPr>
              <a:t>Real financial data drives enemy wave difficulty. Overspend → harder waves. Save → easier game. Consequences feel real.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09160" y="1508760"/>
            <a:ext cx="4160520" cy="1508760"/>
          </a:xfrm>
          <a:prstGeom prst="rect">
            <a:avLst/>
          </a:prstGeom>
          <a:solidFill>
            <a:srgbClr val="112240"/>
          </a:solidFill>
          <a:ln w="2540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164592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22392" y="1618488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D080"/>
                </a:solidFill>
              </a:rPr>
              <a:t>Agentic AI at the Core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873752" y="2075688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7"/>
                </a:solidFill>
              </a:rPr>
              <a:t>9 Claude-powered agents analyze your spending, set personalized goals, and roleplay financial advisors with memory of your history.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274320" y="3200400"/>
            <a:ext cx="4160520" cy="1508760"/>
          </a:xfrm>
          <a:prstGeom prst="rect">
            <a:avLst/>
          </a:prstGeom>
          <a:solidFill>
            <a:srgbClr val="112240"/>
          </a:solidFill>
          <a:ln w="2540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" y="333756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87552" y="3310128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D080"/>
                </a:solidFill>
              </a:rPr>
              <a:t>Behavioral Change Engine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438912" y="3767328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7"/>
                </a:solidFill>
              </a:rPr>
              <a:t>Weekly goals with in-game rewards/penalties. Progress tracked week-over-week. The game literally gets harder when you slip.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709160" y="3200400"/>
            <a:ext cx="4160520" cy="1508760"/>
          </a:xfrm>
          <a:prstGeom prst="rect">
            <a:avLst/>
          </a:prstGeom>
          <a:solidFill>
            <a:srgbClr val="112240"/>
          </a:solidFill>
          <a:ln w="2540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3752" y="3337560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422392" y="3310128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D080"/>
                </a:solidFill>
              </a:rPr>
              <a:t>Privacy-First &amp; Secure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4873752" y="3767328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7"/>
                </a:solidFill>
              </a:rPr>
              <a:t>Bank statements processed locally via Claude. Supabase with row-level security. No data ever shared with third parties.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rgbClr val="1B335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>
              <a:buNone/>
            </a:pPr>
            <a:r>
              <a:rPr lang="en-US" sz="2000" b="1" kern="0" spc="500" dirty="0"/>
              <a:t>HOW IT WORKS — THE GAMEPLAY LOOP</a:t>
            </a:r>
          </a:p>
        </p:txBody>
      </p:sp>
      <p:sp>
        <p:nvSpPr>
          <p:cNvPr id="4" name="Shape 2"/>
          <p:cNvSpPr/>
          <p:nvPr/>
        </p:nvSpPr>
        <p:spPr>
          <a:xfrm>
            <a:off x="1709928" y="1481328"/>
            <a:ext cx="27432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1572768" cy="3566160"/>
          </a:xfrm>
          <a:prstGeom prst="rect">
            <a:avLst/>
          </a:prstGeom>
          <a:solidFill>
            <a:srgbClr val="112240"/>
          </a:solidFill>
          <a:ln w="12700">
            <a:solidFill>
              <a:srgbClr val="1B33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40664" y="868680"/>
            <a:ext cx="548640" cy="5486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0664" y="868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</a:rPr>
              <a:t>1</a:t>
            </a:r>
            <a:endParaRPr lang="en-US" sz="16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1572768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0040" y="2212848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D080"/>
                </a:solidFill>
              </a:rPr>
              <a:t>Upload Statement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20040" y="2697480"/>
            <a:ext cx="1389888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EF7"/>
                </a:solidFill>
              </a:rPr>
              <a:t>Drop in a bank statement PDF or TXT. Demo samples included.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465576" y="1481328"/>
            <a:ext cx="27432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984248" y="777240"/>
            <a:ext cx="1572768" cy="3566160"/>
          </a:xfrm>
          <a:prstGeom prst="rect">
            <a:avLst/>
          </a:prstGeom>
          <a:solidFill>
            <a:srgbClr val="112240"/>
          </a:solidFill>
          <a:ln w="12700">
            <a:solidFill>
              <a:srgbClr val="1B33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2496312" y="868680"/>
            <a:ext cx="548640" cy="5486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2496312" y="868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</a:rPr>
              <a:t>2</a:t>
            </a:r>
            <a:endParaRPr lang="en-US" sz="16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600" y="1572768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075688" y="2212848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D080"/>
                </a:solidFill>
              </a:rPr>
              <a:t>AI Analyzes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2075688" y="2697480"/>
            <a:ext cx="1389888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EF7"/>
                </a:solidFill>
              </a:rPr>
              <a:t>Claude parses &amp; categorizes transactions. Calculates your 0–100 Financial Score.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5221224" y="1481328"/>
            <a:ext cx="27432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3739896" y="777240"/>
            <a:ext cx="1572768" cy="3566160"/>
          </a:xfrm>
          <a:prstGeom prst="rect">
            <a:avLst/>
          </a:prstGeom>
          <a:solidFill>
            <a:srgbClr val="112240"/>
          </a:solidFill>
          <a:ln w="12700">
            <a:solidFill>
              <a:srgbClr val="1B33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4251960" y="868680"/>
            <a:ext cx="548640" cy="5486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4251960" y="868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</a:rPr>
              <a:t>3</a:t>
            </a:r>
            <a:endParaRPr lang="en-US" sz="16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0248" y="1572768"/>
            <a:ext cx="502920" cy="5029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3831336" y="2212848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D080"/>
                </a:solidFill>
              </a:rPr>
              <a:t>Goal Set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3831336" y="2697480"/>
            <a:ext cx="1389888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EF7"/>
                </a:solidFill>
              </a:rPr>
              <a:t>Goal Agent identifies your riskiest category &amp; sets a 25% reduction target.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6976872" y="1481328"/>
            <a:ext cx="27432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5495544" y="777240"/>
            <a:ext cx="1572768" cy="3566160"/>
          </a:xfrm>
          <a:prstGeom prst="rect">
            <a:avLst/>
          </a:prstGeom>
          <a:solidFill>
            <a:srgbClr val="112240"/>
          </a:solidFill>
          <a:ln w="12700">
            <a:solidFill>
              <a:srgbClr val="1B33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6007608" y="868680"/>
            <a:ext cx="548640" cy="5486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3"/>
          <p:cNvSpPr/>
          <p:nvPr/>
        </p:nvSpPr>
        <p:spPr>
          <a:xfrm>
            <a:off x="6007608" y="868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</a:rPr>
              <a:t>4</a:t>
            </a:r>
            <a:endParaRPr lang="en-US" sz="160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25896" y="1572768"/>
            <a:ext cx="502920" cy="50292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586984" y="2212848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D080"/>
                </a:solidFill>
              </a:rPr>
              <a:t>Play the Game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5586984" y="2697480"/>
            <a:ext cx="1389888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EF7"/>
                </a:solidFill>
              </a:rPr>
              <a:t>Your score sets wave difficulty. Place towers, defend your city from spending villains.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7251192" y="777240"/>
            <a:ext cx="1572768" cy="3566160"/>
          </a:xfrm>
          <a:prstGeom prst="rect">
            <a:avLst/>
          </a:prstGeom>
          <a:solidFill>
            <a:srgbClr val="112240"/>
          </a:solidFill>
          <a:ln w="12700">
            <a:solidFill>
              <a:srgbClr val="1B33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27"/>
          <p:cNvSpPr/>
          <p:nvPr/>
        </p:nvSpPr>
        <p:spPr>
          <a:xfrm>
            <a:off x="7763256" y="868680"/>
            <a:ext cx="548640" cy="5486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8"/>
          <p:cNvSpPr/>
          <p:nvPr/>
        </p:nvSpPr>
        <p:spPr>
          <a:xfrm>
            <a:off x="7763256" y="868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</a:rPr>
              <a:t>5</a:t>
            </a:r>
            <a:endParaRPr lang="en-US" sz="1600" dirty="0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81544" y="1572768"/>
            <a:ext cx="502920" cy="50292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7342632" y="2212848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D080"/>
                </a:solidFill>
              </a:rPr>
              <a:t>Get Debriefed</a:t>
            </a:r>
            <a:endParaRPr lang="en-US" sz="1100" dirty="0"/>
          </a:p>
        </p:txBody>
      </p:sp>
      <p:sp>
        <p:nvSpPr>
          <p:cNvPr id="37" name="Text 30"/>
          <p:cNvSpPr/>
          <p:nvPr/>
        </p:nvSpPr>
        <p:spPr>
          <a:xfrm>
            <a:off x="7342632" y="2697480"/>
            <a:ext cx="1389888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EF7"/>
                </a:solidFill>
              </a:rPr>
              <a:t>5 AI advisor NPCs give personalized post-game feedback with week-over-week memory.</a:t>
            </a:r>
            <a:endParaRPr lang="en-US" sz="1000" dirty="0"/>
          </a:p>
        </p:txBody>
      </p:sp>
      <p:sp>
        <p:nvSpPr>
          <p:cNvPr id="38" name="Text 31"/>
          <p:cNvSpPr/>
          <p:nvPr/>
        </p:nvSpPr>
        <p:spPr>
          <a:xfrm>
            <a:off x="365760" y="44805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84C"/>
                </a:solidFill>
              </a:rPr>
              <a:t>SPENDING VILLAINS YOU MUST DEFEAT:</a:t>
            </a:r>
            <a:endParaRPr lang="en-US" sz="1100" dirty="0"/>
          </a:p>
        </p:txBody>
      </p:sp>
      <p:sp>
        <p:nvSpPr>
          <p:cNvPr id="39" name="Text 32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EF7"/>
                </a:solidFill>
              </a:rPr>
              <a:t>🍔 Foodie   🛍️ Impulse Buyer   📱 Subscription Creep   🎬 Night Owl   💳 Debt Collector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rgbClr val="1B335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500" dirty="0"/>
              <a:t>GAME FEATURES AT A GLANCE</a:t>
            </a:r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3931920" cy="2103120"/>
          </a:xfrm>
          <a:prstGeom prst="rect">
            <a:avLst/>
          </a:prstGeom>
          <a:solidFill>
            <a:srgbClr val="112240"/>
          </a:solidFill>
          <a:ln w="12700">
            <a:solidFill>
              <a:srgbClr val="1B33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84C"/>
                </a:solidFill>
              </a:rPr>
              <a:t>🏹  TOWERS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61872"/>
          <a:ext cx="3566160" cy="77724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8FA8C8"/>
                          </a:solidFill>
                        </a:rPr>
                        <a:t>Tower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B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8FA8C8"/>
                          </a:solidFill>
                        </a:rPr>
                        <a:t>Cost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B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8FA8C8"/>
                          </a:solidFill>
                        </a:rPr>
                        <a:t>Special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B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</a:rPr>
                        <a:t>Archer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B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</a:rPr>
                        <a:t>50 pts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B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</a:rPr>
                        <a:t>Fast attack, precision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B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</a:rPr>
                        <a:t>Cannon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B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</a:rPr>
                        <a:t>120 pts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B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</a:rPr>
                        <a:t>Slow, splash damage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B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3017520"/>
            <a:ext cx="3931920" cy="1920240"/>
          </a:xfrm>
          <a:prstGeom prst="rect">
            <a:avLst/>
          </a:prstGeom>
          <a:solidFill>
            <a:srgbClr val="112240"/>
          </a:solidFill>
          <a:ln w="12700">
            <a:solidFill>
              <a:srgbClr val="1B33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57200" y="3108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84C"/>
                </a:solidFill>
              </a:rPr>
              <a:t>👾  ENEMY TYPES</a:t>
            </a:r>
            <a:endParaRPr lang="en-US" sz="14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493008"/>
          <a:ext cx="3566160" cy="12192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8FA8C8"/>
                          </a:solidFill>
                        </a:rPr>
                        <a:t>Enemy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B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8FA8C8"/>
                          </a:solidFill>
                        </a:rPr>
                        <a:t>HP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B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8FA8C8"/>
                          </a:solidFill>
                        </a:rPr>
                        <a:t>Threat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B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EF7"/>
                          </a:solidFill>
                        </a:rPr>
                        <a:t>🍔 Foodie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B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EF7"/>
                          </a:solidFill>
                        </a:rPr>
                        <a:t>Low HP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B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EF7"/>
                          </a:solidFill>
                        </a:rPr>
                        <a:t>15 city dmg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B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EF7"/>
                          </a:solidFill>
                        </a:rPr>
                        <a:t>🛍️ Impulse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B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EF7"/>
                          </a:solidFill>
                        </a:rPr>
                        <a:t>Very Low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B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EF7"/>
                          </a:solidFill>
                        </a:rPr>
                        <a:t>Fast / 10 dmg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B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EF7"/>
                          </a:solidFill>
                        </a:rPr>
                        <a:t>📱 Sub Creep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B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EF7"/>
                          </a:solidFill>
                        </a:rPr>
                        <a:t>High HP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B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EF7"/>
                          </a:solidFill>
                        </a:rPr>
                        <a:t>Slow / 25 dmg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B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EF7"/>
                          </a:solidFill>
                        </a:rPr>
                        <a:t>💳 Debt Coll.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B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EF7"/>
                          </a:solidFill>
                        </a:rPr>
                        <a:t>Very High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B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EF7"/>
                          </a:solidFill>
                        </a:rPr>
                        <a:t>Slowest / 35 dmg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B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480560" y="777240"/>
            <a:ext cx="4389120" cy="2103120"/>
          </a:xfrm>
          <a:prstGeom prst="rect">
            <a:avLst/>
          </a:prstGeom>
          <a:solidFill>
            <a:srgbClr val="112240"/>
          </a:solidFill>
          <a:ln w="12700">
            <a:solidFill>
              <a:srgbClr val="1B33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663440" y="8686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84C"/>
                </a:solidFill>
              </a:rPr>
              <a:t>📊  WAVE DIFFICULTY (Based on Your Score)</a:t>
            </a:r>
            <a:endParaRPr lang="en-US" sz="1200" dirty="0"/>
          </a:p>
        </p:txBody>
      </p:sp>
      <p:graphicFrame>
        <p:nvGraphicFramePr>
          <p:cNvPr id="12" name="Chart 0"/>
          <p:cNvGraphicFramePr/>
          <p:nvPr/>
        </p:nvGraphicFramePr>
        <p:xfrm>
          <a:off x="4480560" y="1261872"/>
          <a:ext cx="4297680" cy="1463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Shape 8"/>
          <p:cNvSpPr/>
          <p:nvPr/>
        </p:nvSpPr>
        <p:spPr>
          <a:xfrm>
            <a:off x="4480560" y="3017520"/>
            <a:ext cx="4389120" cy="1920240"/>
          </a:xfrm>
          <a:prstGeom prst="rect">
            <a:avLst/>
          </a:prstGeom>
          <a:solidFill>
            <a:srgbClr val="112240"/>
          </a:solidFill>
          <a:ln w="12700">
            <a:solidFill>
              <a:srgbClr val="1B33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/>
          <p:nvPr/>
        </p:nvSpPr>
        <p:spPr>
          <a:xfrm>
            <a:off x="4663440" y="31089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84C"/>
                </a:solidFill>
              </a:rPr>
              <a:t>🎯  GOAL REWARDS &amp; PENALTIES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4663440" y="3520440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7"/>
                </a:solidFill>
              </a:rPr>
              <a:t>🏆 Crush It (&lt;80% target)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7406640" y="3520440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BFA5"/>
                </a:solidFill>
              </a:rPr>
              <a:t>+75 pts, +10 HP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4663440" y="3858768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7"/>
                </a:solidFill>
              </a:rPr>
              <a:t>✅ Hit Target (&lt;100%)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7406640" y="3858768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C98A"/>
                </a:solidFill>
              </a:rPr>
              <a:t>+50 pts, +5 HP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4663440" y="4197096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7"/>
                </a:solidFill>
              </a:rPr>
              <a:t>❌ Missed by 20-50%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7406640" y="4197096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84855"/>
                </a:solidFill>
              </a:rPr>
              <a:t>−10 HP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4663440" y="4535424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7"/>
                </a:solidFill>
              </a:rPr>
              <a:t>💀 Missed by 50%+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7406640" y="4535424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AA0000"/>
                </a:solidFill>
              </a:rPr>
              <a:t>−20 HP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kern="0" spc="300" dirty="0">
                <a:solidFill>
                  <a:srgbClr val="0A1628"/>
                </a:solidFill>
              </a:rPr>
              <a:t>THE AI AGENT ARMY — 9 AGENTS WORKING FOR YOU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28600" y="731520"/>
            <a:ext cx="3931920" cy="4251960"/>
          </a:xfrm>
          <a:prstGeom prst="rect">
            <a:avLst/>
          </a:prstGeom>
          <a:solidFill>
            <a:srgbClr val="112240"/>
          </a:solidFill>
          <a:ln w="12700">
            <a:solidFill>
              <a:srgbClr val="1B33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8229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FA5"/>
                </a:solidFill>
              </a:rPr>
              <a:t>⚙️  CORE PIPELINE AGENTS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280160"/>
            <a:ext cx="3611880" cy="749808"/>
          </a:xfrm>
          <a:prstGeom prst="rect">
            <a:avLst/>
          </a:prstGeom>
          <a:solidFill>
            <a:srgbClr val="112240"/>
          </a:solidFill>
          <a:ln w="12700">
            <a:solidFill>
              <a:srgbClr val="1B33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44752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353312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D080"/>
                </a:solidFill>
              </a:rPr>
              <a:t>Analyst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51560" y="16459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7"/>
                </a:solidFill>
              </a:rPr>
              <a:t>Categorizes transactions, calculates financial score 0–100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11480" y="2148840"/>
            <a:ext cx="3611880" cy="749808"/>
          </a:xfrm>
          <a:prstGeom prst="rect">
            <a:avLst/>
          </a:prstGeom>
          <a:solidFill>
            <a:srgbClr val="112240"/>
          </a:solidFill>
          <a:ln w="12700">
            <a:solidFill>
              <a:srgbClr val="1B33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313432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51560" y="2221992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D080"/>
                </a:solidFill>
              </a:rPr>
              <a:t>Context Agent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1051560" y="25146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7"/>
                </a:solidFill>
              </a:rPr>
              <a:t>Builds week-over-week player history for memory-aware advice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11480" y="3017520"/>
            <a:ext cx="3611880" cy="749808"/>
          </a:xfrm>
          <a:prstGeom prst="rect">
            <a:avLst/>
          </a:prstGeom>
          <a:solidFill>
            <a:srgbClr val="112240"/>
          </a:solidFill>
          <a:ln w="12700">
            <a:solidFill>
              <a:srgbClr val="1B33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182112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51560" y="3090672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D080"/>
                </a:solidFill>
              </a:rPr>
              <a:t>Goal Agent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1051560" y="33832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7"/>
                </a:solidFill>
              </a:rPr>
              <a:t>Picks riskiest spending category, sets weekly reduction target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11480" y="3886200"/>
            <a:ext cx="3611880" cy="749808"/>
          </a:xfrm>
          <a:prstGeom prst="rect">
            <a:avLst/>
          </a:prstGeom>
          <a:solidFill>
            <a:srgbClr val="112240"/>
          </a:solidFill>
          <a:ln w="12700">
            <a:solidFill>
              <a:srgbClr val="1B33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4050792"/>
            <a:ext cx="411480" cy="4114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51560" y="3959352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D080"/>
                </a:solidFill>
              </a:rPr>
              <a:t>Game Engine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1051560" y="42519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7"/>
                </a:solidFill>
              </a:rPr>
              <a:t>Converts financial score → wave difficulty, updates game state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4434840" y="731520"/>
            <a:ext cx="4480560" cy="4251960"/>
          </a:xfrm>
          <a:prstGeom prst="rect">
            <a:avLst/>
          </a:prstGeom>
          <a:solidFill>
            <a:srgbClr val="112240"/>
          </a:solidFill>
          <a:ln w="12700">
            <a:solidFill>
              <a:srgbClr val="1B33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17"/>
          <p:cNvSpPr/>
          <p:nvPr/>
        </p:nvSpPr>
        <p:spPr>
          <a:xfrm>
            <a:off x="4617720" y="822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84C"/>
                </a:solidFill>
              </a:rPr>
              <a:t>🧠  NPC ADVISOR AGENTS (Multi-turn, Memory-Aware)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617720" y="126187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D080"/>
                </a:solidFill>
              </a:rPr>
              <a:t>⚔️ The Warden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4617720" y="151790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FA8C8"/>
                </a:solidFill>
              </a:rPr>
              <a:t>Trigger: Always active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4617720" y="1682496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7"/>
                </a:solidFill>
              </a:rPr>
              <a:t>Strict budget enforcer, militaristic tone. Calls out overspending directly.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4617720" y="1938528"/>
            <a:ext cx="4114800" cy="18288"/>
          </a:xfrm>
          <a:prstGeom prst="rect">
            <a:avLst/>
          </a:prstGeom>
          <a:solidFill>
            <a:srgbClr val="1B3358"/>
          </a:solidFill>
          <a:ln w="12700">
            <a:solidFill>
              <a:srgbClr val="1B33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2"/>
          <p:cNvSpPr/>
          <p:nvPr/>
        </p:nvSpPr>
        <p:spPr>
          <a:xfrm>
            <a:off x="4617720" y="199339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D080"/>
                </a:solidFill>
              </a:rPr>
              <a:t>🔍 The Scout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4617720" y="224942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FA8C8"/>
                </a:solidFill>
              </a:rPr>
              <a:t>Trigger: Flags suspicious txns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4617720" y="2414016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7"/>
                </a:solidFill>
              </a:rPr>
              <a:t>Investigates merchants, recurring charges, subscription creep.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4617720" y="2670048"/>
            <a:ext cx="4114800" cy="18288"/>
          </a:xfrm>
          <a:prstGeom prst="rect">
            <a:avLst/>
          </a:prstGeom>
          <a:solidFill>
            <a:srgbClr val="1B3358"/>
          </a:solidFill>
          <a:ln w="12700">
            <a:solidFill>
              <a:srgbClr val="1B33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6"/>
          <p:cNvSpPr/>
          <p:nvPr/>
        </p:nvSpPr>
        <p:spPr>
          <a:xfrm>
            <a:off x="4617720" y="272491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D080"/>
                </a:solidFill>
              </a:rPr>
              <a:t>📐 The Architect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4617720" y="298094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FA8C8"/>
                </a:solidFill>
              </a:rPr>
              <a:t>Trigger: Always active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4617720" y="3145536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7"/>
                </a:solidFill>
              </a:rPr>
              <a:t>Savings strategist — income allocation, financial runway planning.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4617720" y="3401568"/>
            <a:ext cx="4114800" cy="18288"/>
          </a:xfrm>
          <a:prstGeom prst="rect">
            <a:avLst/>
          </a:prstGeom>
          <a:solidFill>
            <a:srgbClr val="1B3358"/>
          </a:solidFill>
          <a:ln w="12700">
            <a:solidFill>
              <a:srgbClr val="1B33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0"/>
          <p:cNvSpPr/>
          <p:nvPr/>
        </p:nvSpPr>
        <p:spPr>
          <a:xfrm>
            <a:off x="4617720" y="345643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D080"/>
                </a:solidFill>
              </a:rPr>
              <a:t>📦 The Quartermaster</a:t>
            </a:r>
            <a:endParaRPr lang="en-US" sz="1200" dirty="0"/>
          </a:p>
        </p:txBody>
      </p:sp>
      <p:sp>
        <p:nvSpPr>
          <p:cNvPr id="37" name="Text 31"/>
          <p:cNvSpPr/>
          <p:nvPr/>
        </p:nvSpPr>
        <p:spPr>
          <a:xfrm>
            <a:off x="4617720" y="371246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FA8C8"/>
                </a:solidFill>
              </a:rPr>
              <a:t>Trigger: Always active</a:t>
            </a:r>
            <a:endParaRPr lang="en-US" sz="900" dirty="0"/>
          </a:p>
        </p:txBody>
      </p:sp>
      <p:sp>
        <p:nvSpPr>
          <p:cNvPr id="38" name="Text 32"/>
          <p:cNvSpPr/>
          <p:nvPr/>
        </p:nvSpPr>
        <p:spPr>
          <a:xfrm>
            <a:off x="4617720" y="3877056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7"/>
                </a:solidFill>
              </a:rPr>
              <a:t>50/30/20 budget allocator — audits every spending category.</a:t>
            </a:r>
            <a:endParaRPr lang="en-US" sz="1000" dirty="0"/>
          </a:p>
        </p:txBody>
      </p:sp>
      <p:sp>
        <p:nvSpPr>
          <p:cNvPr id="39" name="Shape 33"/>
          <p:cNvSpPr/>
          <p:nvPr/>
        </p:nvSpPr>
        <p:spPr>
          <a:xfrm>
            <a:off x="4617720" y="4133088"/>
            <a:ext cx="4114800" cy="18288"/>
          </a:xfrm>
          <a:prstGeom prst="rect">
            <a:avLst/>
          </a:prstGeom>
          <a:solidFill>
            <a:srgbClr val="1B3358"/>
          </a:solidFill>
          <a:ln w="12700">
            <a:solidFill>
              <a:srgbClr val="1B33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4"/>
          <p:cNvSpPr/>
          <p:nvPr/>
        </p:nvSpPr>
        <p:spPr>
          <a:xfrm>
            <a:off x="4617720" y="418795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D080"/>
                </a:solidFill>
              </a:rPr>
              <a:t>🏥 The Medic</a:t>
            </a:r>
            <a:endParaRPr lang="en-US" sz="1200" dirty="0"/>
          </a:p>
        </p:txBody>
      </p:sp>
      <p:sp>
        <p:nvSpPr>
          <p:cNvPr id="41" name="Text 35"/>
          <p:cNvSpPr/>
          <p:nvPr/>
        </p:nvSpPr>
        <p:spPr>
          <a:xfrm>
            <a:off x="4617720" y="44439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FA8C8"/>
                </a:solidFill>
              </a:rPr>
              <a:t>Trigger: Post-loss only</a:t>
            </a:r>
            <a:endParaRPr lang="en-US" sz="900" dirty="0"/>
          </a:p>
        </p:txBody>
      </p:sp>
      <p:sp>
        <p:nvSpPr>
          <p:cNvPr id="42" name="Text 36"/>
          <p:cNvSpPr/>
          <p:nvPr/>
        </p:nvSpPr>
        <p:spPr>
          <a:xfrm>
            <a:off x="4617720" y="4608576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7"/>
                </a:solidFill>
              </a:rPr>
              <a:t>Post-game triage when HP hits zero — gives 1–2 concrete repair actions.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rgbClr val="1B335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300" dirty="0">
                <a:solidFill>
                  <a:srgbClr val="0A1628"/>
                </a:solidFill>
              </a:rPr>
              <a:t>AGENT PIPELINE — HOW IT ALL CONNECTS</a:t>
            </a:r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1828800" cy="1097280"/>
          </a:xfrm>
          <a:prstGeom prst="rect">
            <a:avLst/>
          </a:prstGeom>
          <a:solidFill>
            <a:srgbClr val="112240"/>
          </a:solidFill>
          <a:ln w="2540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804672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EEF7"/>
                </a:solidFill>
              </a:rPr>
              <a:t>User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E8EEF7"/>
                </a:solidFill>
              </a:rPr>
              <a:t>Uploads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E8EEF7"/>
                </a:solidFill>
              </a:rPr>
              <a:t>Statement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103120" y="1261872"/>
            <a:ext cx="50292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560320" y="1188720"/>
            <a:ext cx="45720" cy="2011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331720" y="777240"/>
            <a:ext cx="1828800" cy="1097280"/>
          </a:xfrm>
          <a:prstGeom prst="rect">
            <a:avLst/>
          </a:prstGeom>
          <a:solidFill>
            <a:srgbClr val="112240"/>
          </a:solidFill>
          <a:ln w="2540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331720" y="804672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EEF7"/>
                </a:solidFill>
              </a:rPr>
              <a:t>Claude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E8EEF7"/>
                </a:solidFill>
              </a:rPr>
              <a:t>Sonnet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E8EEF7"/>
                </a:solidFill>
              </a:rPr>
              <a:t>Parses PDF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60520" y="1261872"/>
            <a:ext cx="50292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17720" y="1188720"/>
            <a:ext cx="45720" cy="2011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389120" y="777240"/>
            <a:ext cx="1828800" cy="1097280"/>
          </a:xfrm>
          <a:prstGeom prst="rect">
            <a:avLst/>
          </a:prstGeom>
          <a:solidFill>
            <a:srgbClr val="112240"/>
          </a:solidFill>
          <a:ln w="2540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389120" y="804672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EEF7"/>
                </a:solidFill>
              </a:rPr>
              <a:t>User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E8EEF7"/>
                </a:solidFill>
              </a:rPr>
              <a:t>Confirms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E8EEF7"/>
                </a:solidFill>
              </a:rPr>
              <a:t>Transactions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261872"/>
            <a:ext cx="50292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675120" y="1188720"/>
            <a:ext cx="45720" cy="2011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446520" y="777240"/>
            <a:ext cx="1828800" cy="1097280"/>
          </a:xfrm>
          <a:prstGeom prst="rect">
            <a:avLst/>
          </a:prstGeom>
          <a:solidFill>
            <a:srgbClr val="112240"/>
          </a:solidFill>
          <a:ln w="2540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46520" y="804672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EEF7"/>
                </a:solidFill>
              </a:rPr>
              <a:t>Agent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E8EEF7"/>
                </a:solidFill>
              </a:rPr>
              <a:t>Pipeline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E8EEF7"/>
                </a:solidFill>
              </a:rPr>
              <a:t>Triggers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4320" y="202996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BFA5"/>
                </a:solidFill>
              </a:rPr>
              <a:t>CONFIRM-STATEMENT PIPELINE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2423160"/>
            <a:ext cx="2011680" cy="777240"/>
          </a:xfrm>
          <a:prstGeom prst="rect">
            <a:avLst/>
          </a:prstGeom>
          <a:solidFill>
            <a:srgbClr val="112240"/>
          </a:solidFill>
          <a:ln w="25400">
            <a:solidFill>
              <a:srgbClr val="00BFA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74320" y="24688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FA5"/>
                </a:solidFill>
              </a:rPr>
              <a:t>① Analyst Agent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4320" y="27889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EF7"/>
                </a:solidFill>
              </a:rPr>
              <a:t>Score + category breakdown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286000" y="2770632"/>
            <a:ext cx="164592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450592" y="2423160"/>
            <a:ext cx="2011680" cy="777240"/>
          </a:xfrm>
          <a:prstGeom prst="rect">
            <a:avLst/>
          </a:prstGeom>
          <a:solidFill>
            <a:srgbClr val="112240"/>
          </a:solidFill>
          <a:ln w="25400">
            <a:solidFill>
              <a:srgbClr val="4ECDC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450592" y="24688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ECDC4"/>
                </a:solidFill>
              </a:rPr>
              <a:t>② Context Agent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450592" y="27889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EF7"/>
                </a:solidFill>
              </a:rPr>
              <a:t>Build week history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462272" y="2770632"/>
            <a:ext cx="164592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626864" y="2423160"/>
            <a:ext cx="2011680" cy="777240"/>
          </a:xfrm>
          <a:prstGeom prst="rect">
            <a:avLst/>
          </a:prstGeom>
          <a:solidFill>
            <a:srgbClr val="112240"/>
          </a:solidFill>
          <a:ln w="2540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626864" y="24688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84C"/>
                </a:solidFill>
              </a:rPr>
              <a:t>③ Goal Agent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626864" y="27889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EF7"/>
                </a:solidFill>
              </a:rPr>
              <a:t>Pick risky category + target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638544" y="2770632"/>
            <a:ext cx="164592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803136" y="2423160"/>
            <a:ext cx="2011680" cy="777240"/>
          </a:xfrm>
          <a:prstGeom prst="rect">
            <a:avLst/>
          </a:prstGeom>
          <a:solidFill>
            <a:srgbClr val="112240"/>
          </a:solidFill>
          <a:ln w="25400">
            <a:solidFill>
              <a:srgbClr val="F0D0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803136" y="24688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D080"/>
                </a:solidFill>
              </a:rPr>
              <a:t>④ Game Engine Agent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803136" y="27889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EF7"/>
                </a:solidFill>
              </a:rPr>
              <a:t>Set wave config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74320" y="340156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84C"/>
                </a:solidFill>
              </a:rPr>
              <a:t>NPC CHAT BRANCH (On-demand)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74320" y="3749040"/>
            <a:ext cx="2011680" cy="822960"/>
          </a:xfrm>
          <a:prstGeom prst="rect">
            <a:avLst/>
          </a:prstGeom>
          <a:solidFill>
            <a:srgbClr val="112240"/>
          </a:solidFill>
          <a:ln w="12700">
            <a:solidFill>
              <a:srgbClr val="1B33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74320" y="3767328"/>
            <a:ext cx="20116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EF7"/>
                </a:solidFill>
              </a:rPr>
              <a:t>User opens NPC Chat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286000" y="4133088"/>
            <a:ext cx="164592" cy="54864"/>
          </a:xfrm>
          <a:prstGeom prst="rect">
            <a:avLst/>
          </a:prstGeom>
          <a:solidFill>
            <a:srgbClr val="8FA8C8"/>
          </a:solidFill>
          <a:ln w="12700">
            <a:solidFill>
              <a:srgbClr val="8FA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2450592" y="3749040"/>
            <a:ext cx="2011680" cy="822960"/>
          </a:xfrm>
          <a:prstGeom prst="rect">
            <a:avLst/>
          </a:prstGeom>
          <a:solidFill>
            <a:srgbClr val="112240"/>
          </a:solidFill>
          <a:ln w="12700">
            <a:solidFill>
              <a:srgbClr val="1B33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450592" y="3767328"/>
            <a:ext cx="20116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EF7"/>
                </a:solidFill>
              </a:rPr>
              <a:t>NPC Router Agent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462272" y="4133088"/>
            <a:ext cx="164592" cy="54864"/>
          </a:xfrm>
          <a:prstGeom prst="rect">
            <a:avLst/>
          </a:prstGeom>
          <a:solidFill>
            <a:srgbClr val="8FA8C8"/>
          </a:solidFill>
          <a:ln w="12700">
            <a:solidFill>
              <a:srgbClr val="8FA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626864" y="3749040"/>
            <a:ext cx="2011680" cy="822960"/>
          </a:xfrm>
          <a:prstGeom prst="rect">
            <a:avLst/>
          </a:prstGeom>
          <a:solidFill>
            <a:srgbClr val="112240"/>
          </a:solidFill>
          <a:ln w="12700">
            <a:solidFill>
              <a:srgbClr val="1B33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626864" y="3767328"/>
            <a:ext cx="20116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EF7"/>
                </a:solidFill>
              </a:rPr>
              <a:t>Role-specific Agent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EEF7"/>
                </a:solidFill>
              </a:rPr>
              <a:t>(Warden / Scout / etc.)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638544" y="4133088"/>
            <a:ext cx="164592" cy="54864"/>
          </a:xfrm>
          <a:prstGeom prst="rect">
            <a:avLst/>
          </a:prstGeom>
          <a:solidFill>
            <a:srgbClr val="8FA8C8"/>
          </a:solidFill>
          <a:ln w="12700">
            <a:solidFill>
              <a:srgbClr val="8FA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6803136" y="3749040"/>
            <a:ext cx="2011680" cy="822960"/>
          </a:xfrm>
          <a:prstGeom prst="rect">
            <a:avLst/>
          </a:prstGeom>
          <a:solidFill>
            <a:srgbClr val="112240"/>
          </a:solidFill>
          <a:ln w="12700">
            <a:solidFill>
              <a:srgbClr val="1B335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803136" y="3767328"/>
            <a:ext cx="20116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EF7"/>
                </a:solidFill>
              </a:rPr>
              <a:t>Persisted to Supabase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EEF7"/>
                </a:solidFill>
              </a:rPr>
              <a:t>(capped 20 msgs/NPC)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0A1628"/>
                </a:solidFill>
              </a:rPr>
              <a:t>WHY Forti-Fi IS A STANDOUT PROJECT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" y="804672"/>
            <a:ext cx="2743200" cy="1920240"/>
          </a:xfrm>
          <a:prstGeom prst="rect">
            <a:avLst/>
          </a:prstGeom>
          <a:solidFill>
            <a:srgbClr val="112240"/>
          </a:solidFill>
          <a:ln w="2540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41832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41832" y="94183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D080"/>
                </a:solidFill>
              </a:rPr>
              <a:t>TRUE AGENTIC ARCHITECTURE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65760" y="1517904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7"/>
                </a:solidFill>
              </a:rPr>
              <a:t>Not just a chatbot. 9 specialized agents with distinct roles, memory, and decision logic running in coordinated pipelines — exactly what agentic AI means.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00400" y="804672"/>
            <a:ext cx="2743200" cy="1920240"/>
          </a:xfrm>
          <a:prstGeom prst="rect">
            <a:avLst/>
          </a:prstGeom>
          <a:solidFill>
            <a:srgbClr val="112240"/>
          </a:solidFill>
          <a:ln w="2540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941832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913632" y="94183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D080"/>
                </a:solidFill>
              </a:rPr>
              <a:t>REAL DATA, REAL STAKES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3337560" y="1517904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7"/>
                </a:solidFill>
              </a:rPr>
              <a:t>Unlike toy demos, Forti-Fi uses actual bank statements. The AI processes real financial data and produces consequences the player feels in-game.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172200" y="804672"/>
            <a:ext cx="2743200" cy="1920240"/>
          </a:xfrm>
          <a:prstGeom prst="rect">
            <a:avLst/>
          </a:prstGeom>
          <a:solidFill>
            <a:srgbClr val="112240"/>
          </a:solidFill>
          <a:ln w="2540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941832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885432" y="94183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D080"/>
                </a:solidFill>
              </a:rPr>
              <a:t>FULL-STACK PRODUCTION QUALITY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6309360" y="1517904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7"/>
                </a:solidFill>
              </a:rPr>
              <a:t>Live deployed app on Vercel. Supabase backend with RLS. TypeScript throughout. This isn't a prototype — it's a shippable product.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228600" y="2907792"/>
            <a:ext cx="2743200" cy="1920240"/>
          </a:xfrm>
          <a:prstGeom prst="rect">
            <a:avLst/>
          </a:prstGeom>
          <a:solidFill>
            <a:srgbClr val="112240"/>
          </a:solidFill>
          <a:ln w="2540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3044952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41832" y="304495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D080"/>
                </a:solidFill>
              </a:rPr>
              <a:t>CLOSED FEEDBACK LOOP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365760" y="3621024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7"/>
                </a:solidFill>
              </a:rPr>
              <a:t>Spending → Score → Difficulty → Goal → Reward/Penalty → Next week. Every component feeds back. Behavior change is baked into the loop.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200400" y="2907792"/>
            <a:ext cx="2743200" cy="1920240"/>
          </a:xfrm>
          <a:prstGeom prst="rect">
            <a:avLst/>
          </a:prstGeom>
          <a:solidFill>
            <a:srgbClr val="112240"/>
          </a:solidFill>
          <a:ln w="2540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3280" y="3044952"/>
            <a:ext cx="457200" cy="4572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913632" y="304495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D080"/>
                </a:solidFill>
              </a:rPr>
              <a:t>SCALABLE DESIGN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3337560" y="3621024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7"/>
                </a:solidFill>
              </a:rPr>
              <a:t>Multi-user, multi-week architecture. NPC memory capped and indexed. Agent pipeline decoupled from frontend. Ready to scale.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6172200" y="2907792"/>
            <a:ext cx="2743200" cy="1920240"/>
          </a:xfrm>
          <a:prstGeom prst="rect">
            <a:avLst/>
          </a:prstGeom>
          <a:solidFill>
            <a:srgbClr val="112240"/>
          </a:solidFill>
          <a:ln w="2540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5080" y="3044952"/>
            <a:ext cx="457200" cy="4572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885432" y="304495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D080"/>
                </a:solidFill>
              </a:rPr>
              <a:t>NOVEL PROBLEM FRAMING</a:t>
            </a:r>
            <a:endParaRPr lang="en-US" sz="1000" dirty="0"/>
          </a:p>
        </p:txBody>
      </p:sp>
      <p:sp>
        <p:nvSpPr>
          <p:cNvPr id="27" name="Text 19"/>
          <p:cNvSpPr/>
          <p:nvPr/>
        </p:nvSpPr>
        <p:spPr>
          <a:xfrm>
            <a:off x="6309360" y="3621024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7"/>
                </a:solidFill>
              </a:rPr>
              <a:t>No one has turned personal finance into a real-time tower defense driven by actual spending data. The concept is original, validated, and sticky.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kern="0" spc="600" dirty="0">
                <a:solidFill>
                  <a:srgbClr val="0A1628"/>
                </a:solidFill>
              </a:rPr>
              <a:t>READY TO PLAY?</a:t>
            </a:r>
            <a:endParaRPr lang="en-US" sz="3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1280160"/>
            <a:ext cx="1645920" cy="1645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0" y="301752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kern="0" spc="800" dirty="0">
                <a:solidFill>
                  <a:srgbClr val="C9A84C"/>
                </a:solidFill>
              </a:rPr>
              <a:t>Forti-Fi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0" y="367588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E8EEF7"/>
                </a:solidFill>
              </a:rPr>
              <a:t>Your Spending Habits Are the Boss Level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0" y="406908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8C8"/>
                </a:solidFill>
              </a:rPr>
              <a:t>🌐  forti-fy.vercel.app     |     👥  Team Mickey Mavericks    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1541</Words>
  <Application>Microsoft Office PowerPoint</Application>
  <PresentationFormat>On-screen Show (16:9)</PresentationFormat>
  <Paragraphs>204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FortiFy — Mickey Mavericks</dc:title>
  <dc:subject>PptxGenJS Presentation</dc:subject>
  <dc:creator>PptxGenJS</dc:creator>
  <cp:lastModifiedBy>Neehar Phatak</cp:lastModifiedBy>
  <cp:revision>5</cp:revision>
  <dcterms:created xsi:type="dcterms:W3CDTF">2026-04-22T04:06:29Z</dcterms:created>
  <dcterms:modified xsi:type="dcterms:W3CDTF">2026-04-22T16:32:01Z</dcterms:modified>
</cp:coreProperties>
</file>